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61" r:id="rId9"/>
    <p:sldId id="265" r:id="rId10"/>
    <p:sldId id="266" r:id="rId11"/>
    <p:sldId id="274" r:id="rId12"/>
    <p:sldId id="267" r:id="rId13"/>
    <p:sldId id="271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，下午好。我是[您的姓名]，我的毕业设计课题是《[您的课题名称]》。我的研究/开发工作主要围绕[一句话概括您的项目]展开。接下来，我将从课题来源、核心痛点、需求边界和客观限制四个方面，向各位老师汇报我的项目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围绕四个核心部分展开。首先，我会介绍课题的来源，它是如何从真实场景中被发现的。其次，我将深入剖析该场景中存在的核心痛点。接着，我会明确本次系统开发的需求边界，说明我们做什么，不做什么。最后，我会分析项目所面临的客观限制条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来介绍我的课题来源。这个项目并非凭空想象，而是源于一个非常具体的真实场景。例如，我在XX公司实习期间，观察到其客服部门的日常工作流程。这个场景的典型特点是高重复性、信息分散和流程繁琐，这些都为我的课题研究提供了现实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接下来，我将详细阐述我发现的四个核心痛点。这些痛点相互关联，共同导致了当前工作流程的效率和质量瓶颈。它们分别是：效率低下、信息孤岛、质量不稳定以及缺乏数据洞察。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我们要做的，就是围绕前面提到的痛点，实现三个核心功能。第一，建立统一的信息数据库，解决信息孤岛。第二，实现信息的一键检索，解决效率问题。第三，生成基础的统计报告，解决数据洞察问题。这些是项目的基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样重要的是，我们要明确不做什么。例如，复杂的权限管理、移动端APP以及与外部系统的深度集成，这些功能虽然很好，但会增加项目的复杂度和开发周期。因此，它们被列为未来的迭代方向，而非本次开发的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发过程中，我们团队成员进行了明确的分工。[姓名1]负责核心业务逻辑代码编写、关键算法研究与实现，以及系统功能的全面测试与Bug修复。[姓名2]主导前期需求调研与分析，完成系统架构设计与技术选型；负责用户界面开发与优化，并统筹项目全过程文档的撰写与整理，制作演示汇报PPT。通过紧密协作，我们顺利完成了本次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第四部分，我将分析项目面临的客观限制条件。任何项目都不是在真空中进行的，清晰地认识这些限制，是制定务实计划的前提。我将从技术环境、目标人群、成本和时间四个方面进行说明。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我的汇报到此结束，感谢各位老师的聆听！恳请各位老师批评指正。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38.xml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image" Target="../media/image8.svg"/><Relationship Id="rId21" Type="http://schemas.openxmlformats.org/officeDocument/2006/relationships/image" Target="../media/image7.png"/><Relationship Id="rId20" Type="http://schemas.openxmlformats.org/officeDocument/2006/relationships/tags" Target="../tags/tag35.xml"/><Relationship Id="rId2" Type="http://schemas.openxmlformats.org/officeDocument/2006/relationships/tags" Target="../tags/tag21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ags" Target="../tags/tag41.xml"/><Relationship Id="rId31" Type="http://schemas.openxmlformats.org/officeDocument/2006/relationships/notesSlide" Target="../notesSlides/notesSlide4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40.xml"/><Relationship Id="rId29" Type="http://schemas.openxmlformats.org/officeDocument/2006/relationships/tags" Target="../tags/tag58.xml"/><Relationship Id="rId28" Type="http://schemas.openxmlformats.org/officeDocument/2006/relationships/tags" Target="../tags/tag57.xml"/><Relationship Id="rId27" Type="http://schemas.openxmlformats.org/officeDocument/2006/relationships/image" Target="../media/image16.svg"/><Relationship Id="rId26" Type="http://schemas.openxmlformats.org/officeDocument/2006/relationships/image" Target="../media/image15.png"/><Relationship Id="rId25" Type="http://schemas.openxmlformats.org/officeDocument/2006/relationships/tags" Target="../tags/tag56.xml"/><Relationship Id="rId24" Type="http://schemas.openxmlformats.org/officeDocument/2006/relationships/tags" Target="../tags/tag55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image" Target="../media/image14.svg"/><Relationship Id="rId2" Type="http://schemas.openxmlformats.org/officeDocument/2006/relationships/tags" Target="../tags/tag39.xml"/><Relationship Id="rId19" Type="http://schemas.openxmlformats.org/officeDocument/2006/relationships/image" Target="../media/image13.png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59.xml"/><Relationship Id="rId19" Type="http://schemas.openxmlformats.org/officeDocument/2006/relationships/tags" Target="../tags/tag70.xml"/><Relationship Id="rId18" Type="http://schemas.openxmlformats.org/officeDocument/2006/relationships/image" Target="../media/image22.svg"/><Relationship Id="rId17" Type="http://schemas.openxmlformats.org/officeDocument/2006/relationships/image" Target="../media/image21.png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tags" Target="../tags/tag6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image" Target="../media/image28.svg"/><Relationship Id="rId21" Type="http://schemas.openxmlformats.org/officeDocument/2006/relationships/image" Target="../media/image27.png"/><Relationship Id="rId20" Type="http://schemas.openxmlformats.org/officeDocument/2006/relationships/tags" Target="../tags/tag85.xml"/><Relationship Id="rId2" Type="http://schemas.openxmlformats.org/officeDocument/2006/relationships/tags" Target="../tags/tag71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image" Target="../media/image26.svg"/><Relationship Id="rId13" Type="http://schemas.openxmlformats.org/officeDocument/2006/relationships/image" Target="../media/image25.png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7" Type="http://schemas.openxmlformats.org/officeDocument/2006/relationships/notesSlide" Target="../notesSlides/notesSlide8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04.xml"/><Relationship Id="rId24" Type="http://schemas.openxmlformats.org/officeDocument/2006/relationships/image" Target="../media/image37.svg"/><Relationship Id="rId23" Type="http://schemas.openxmlformats.org/officeDocument/2006/relationships/image" Target="../media/image36.png"/><Relationship Id="rId22" Type="http://schemas.openxmlformats.org/officeDocument/2006/relationships/tags" Target="../tags/tag103.xml"/><Relationship Id="rId21" Type="http://schemas.openxmlformats.org/officeDocument/2006/relationships/tags" Target="../tags/tag102.xml"/><Relationship Id="rId20" Type="http://schemas.openxmlformats.org/officeDocument/2006/relationships/tags" Target="../tags/tag101.xml"/><Relationship Id="rId2" Type="http://schemas.openxmlformats.org/officeDocument/2006/relationships/tags" Target="../tags/tag89.xml"/><Relationship Id="rId19" Type="http://schemas.openxmlformats.org/officeDocument/2006/relationships/tags" Target="../tags/tag100.xml"/><Relationship Id="rId18" Type="http://schemas.openxmlformats.org/officeDocument/2006/relationships/image" Target="../media/image35.svg"/><Relationship Id="rId17" Type="http://schemas.openxmlformats.org/officeDocument/2006/relationships/image" Target="../media/image34.png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image" Target="../media/image30.svg"/><Relationship Id="rId11" Type="http://schemas.openxmlformats.org/officeDocument/2006/relationships/image" Target="../media/image33.png"/><Relationship Id="rId10" Type="http://schemas.openxmlformats.org/officeDocument/2006/relationships/tags" Target="../tags/tag95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校园失物招领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588000" y="3810000"/>
            <a:ext cx="1016000" cy="381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5778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向帅、温贤海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14074">
            <a:off x="4064000" y="6026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699000" y="5778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14074">
            <a:off x="7747000" y="6026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382000" y="5778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汇报大纲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22225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课题来源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5"/>
            </p:custDataLst>
          </p:nvPr>
        </p:nvCxnSpPr>
        <p:spPr>
          <a:xfrm rot="-9291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016000" y="3048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我们频繁在微信群、朋友圈看到各类失物招领信息，但这些信息发布零散、时效性差</a:t>
            </a:r>
            <a:endParaRPr lang="zh-CN" alt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6223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23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477000" y="22225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核心痛点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0"/>
            </p:custDataLst>
          </p:nvPr>
        </p:nvCxnSpPr>
        <p:spPr>
          <a:xfrm rot="-9291">
            <a:off x="6477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6477000" y="3048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最核心的问题是信息分散且缺乏智能匹配机制</a:t>
            </a:r>
            <a:endParaRPr lang="zh-CN" altLang="en-US" sz="1100"/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762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762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1016000" y="43815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系统需求边界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15"/>
            </p:custDataLst>
          </p:nvPr>
        </p:nvCxnSpPr>
        <p:spPr>
          <a:xfrm rot="-9291">
            <a:off x="1016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1016000" y="5207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+mn-ea"/>
                <a:ea typeface="+mn-ea"/>
                <a:cs typeface="+mn-ea"/>
                <a:sym typeface="Noto Sans SC" panose="020B0200000000000000" charset="-122"/>
              </a:rPr>
              <a:t>聚焦核心业务目标，清晰界定系统的功能范围与服务边界，明确“做什么”与“不做什么”</a:t>
            </a:r>
            <a:r>
              <a:rPr lang="zh-CN" altLang="en-US" sz="1500" b="0" i="0" u="none" strike="noStrike">
                <a:solidFill>
                  <a:srgbClr val="4B5563"/>
                </a:solidFill>
                <a:latin typeface="+mn-ea"/>
                <a:ea typeface="+mn-ea"/>
                <a:cs typeface="+mn-ea"/>
                <a:sym typeface="Noto Sans SC" panose="020B0200000000000000" charset="-122"/>
              </a:rPr>
              <a:t>。</a:t>
            </a:r>
            <a:endParaRPr lang="zh-CN" altLang="en-US" sz="1500" b="0" i="0" u="none" strike="noStrike">
              <a:solidFill>
                <a:srgbClr val="4B5563"/>
              </a:solidFill>
              <a:latin typeface="+mn-ea"/>
              <a:ea typeface="+mn-ea"/>
              <a:cs typeface="+mn-ea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6223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6223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6477000" y="43815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客观限制条件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20"/>
            </p:custDataLst>
          </p:nvPr>
        </p:nvCxnSpPr>
        <p:spPr>
          <a:xfrm rot="-9291">
            <a:off x="6477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6477000" y="5207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设备，成本，运行环境，</a:t>
            </a:r>
            <a:r>
              <a:rPr lang="zh-CN" altLang="en-US" sz="1100"/>
              <a:t>数据规模</a:t>
            </a:r>
            <a:endParaRPr lang="zh-CN" alt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课题来源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2032000"/>
            <a:ext cx="1009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100"/>
              <a:t>本课题完全来源于我们自己在校园生活中的真实观察。在日常学习中，我们频繁在微信群、朋友圈看到各类失物招领信息，但这些信息发布零散、时效性差，经常出现“失主找不到拾物，拾物找不到失主”的情况。我们并未直接照搬网上现成项目，而是基于这一真实痛点，自主设计了这套轻量级系统。</a:t>
            </a:r>
            <a:endParaRPr lang="zh-CN" altLang="en-US" sz="1100"/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62000" y="406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762000" y="406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6510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日常观察</a:t>
            </a:r>
            <a:endParaRPr lang="zh-CN" altLang="en-US" sz="1100"/>
          </a:p>
        </p:txBody>
      </p:sp>
      <p:cxnSp>
        <p:nvCxnSpPr>
          <p:cNvPr id="11" name="Connector 11"/>
          <p:cNvCxnSpPr/>
          <p:nvPr>
            <p:custDataLst>
              <p:tags r:id="rId8"/>
            </p:custDataLst>
          </p:nvPr>
        </p:nvCxnSpPr>
        <p:spPr>
          <a:xfrm rot="-14946">
            <a:off x="1016014" y="507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016000" y="5270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我们在校园生活中频繁注意到，教学楼、食堂、图书馆等场所的失物招领信息大多依赖微信群或朋友圈转发，缺乏统一渠道。</a:t>
            </a:r>
            <a:endParaRPr lang="zh-CN" altLang="en-US" sz="1100"/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4298950" y="406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4381500" y="406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5500" y="4318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52705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关键信息</a:t>
            </a:r>
            <a:r>
              <a:rPr lang="zh-CN" altLang="en-US" sz="1100"/>
              <a:t>分散</a:t>
            </a:r>
            <a:endParaRPr lang="zh-CN" altLang="en-US" sz="1100"/>
          </a:p>
        </p:txBody>
      </p:sp>
      <p:cxnSp>
        <p:nvCxnSpPr>
          <p:cNvPr id="17" name="Connector 17"/>
          <p:cNvCxnSpPr/>
          <p:nvPr>
            <p:custDataLst>
              <p:tags r:id="rId16"/>
            </p:custDataLst>
          </p:nvPr>
        </p:nvCxnSpPr>
        <p:spPr>
          <a:xfrm rot="-14946">
            <a:off x="4635514" y="507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17"/>
            </p:custDataLst>
          </p:nvPr>
        </p:nvSpPr>
        <p:spPr>
          <a:xfrm>
            <a:off x="4635500" y="5270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团队成员本人或身边同学都曾遇到过丢失物品后翻遍多个</a:t>
            </a:r>
            <a:r>
              <a:rPr lang="zh-CN" altLang="en-US" sz="1100"/>
              <a:t>频道却难以找到有效信息的经历，问题真实存在。</a:t>
            </a:r>
            <a:endParaRPr lang="zh-CN" altLang="en-US" sz="1100"/>
          </a:p>
        </p:txBody>
      </p:sp>
      <p:sp>
        <p:nvSpPr>
          <p:cNvPr id="19" name="AutoShape 19"/>
          <p:cNvSpPr/>
          <p:nvPr>
            <p:custDataLst>
              <p:tags r:id="rId18"/>
            </p:custDataLst>
          </p:nvPr>
        </p:nvSpPr>
        <p:spPr>
          <a:xfrm>
            <a:off x="8001000" y="406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9"/>
            </p:custDataLst>
          </p:nvPr>
        </p:nvSpPr>
        <p:spPr>
          <a:xfrm>
            <a:off x="8001000" y="406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55000" y="4318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3"/>
            </p:custDataLst>
          </p:nvPr>
        </p:nvSpPr>
        <p:spPr>
          <a:xfrm>
            <a:off x="88900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非直接复刻</a:t>
            </a:r>
            <a:r>
              <a:rPr lang="zh-CN" altLang="en-US" sz="1100"/>
              <a:t>项目</a:t>
            </a:r>
            <a:endParaRPr lang="zh-CN" altLang="en-US" sz="1100"/>
          </a:p>
        </p:txBody>
      </p:sp>
      <p:cxnSp>
        <p:nvCxnSpPr>
          <p:cNvPr id="23" name="Connector 23"/>
          <p:cNvCxnSpPr/>
          <p:nvPr>
            <p:custDataLst>
              <p:tags r:id="rId24"/>
            </p:custDataLst>
          </p:nvPr>
        </p:nvCxnSpPr>
        <p:spPr>
          <a:xfrm rot="-14946">
            <a:off x="8255014" y="507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25"/>
            </p:custDataLst>
          </p:nvPr>
        </p:nvSpPr>
        <p:spPr>
          <a:xfrm>
            <a:off x="8255000" y="5270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我们是在调研了现有微信群传播模式的基础上，自主提炼出需求并设计系统，而非简单参考或照搬网上已有成品。</a:t>
            </a:r>
            <a:endParaRPr lang="zh-CN" alt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通过对现有业务场景的深度拆解与调研，我们识别出四个相互交织、互为因果的核心问题，这些问题共同构成了当前流程的效率与质量瓶颈。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3048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304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587500" y="320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信息发布渠道分散</a:t>
            </a:r>
            <a:endParaRPr lang="zh-CN" alt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016000" y="3810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失物信息散落在多个微信群、朋友圈、</a:t>
            </a:r>
            <a:r>
              <a:rPr lang="en-US" altLang="zh-CN" sz="1100"/>
              <a:t>QQ</a:t>
            </a:r>
            <a:r>
              <a:rPr lang="zh-CN" altLang="en-US" sz="1100"/>
              <a:t>群中，缺乏统一的发布入口，导致信息孤岛严重，失主和拾物者难以在同一个平台上高效对接。</a:t>
            </a:r>
            <a:endParaRPr lang="zh-CN" alt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286500" y="3048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286500" y="304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3238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7112000" y="320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查找过程</a:t>
            </a:r>
            <a:r>
              <a:rPr lang="zh-CN" altLang="en-US" sz="1100"/>
              <a:t>费时费力</a:t>
            </a:r>
            <a:endParaRPr lang="zh-CN" altLang="en-US" sz="1100"/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6540500" y="3810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用户需要手动翻看大量历史聊天记录，信息排序混乱，经常“爬楼”很久才能找到疑似匹配的内容，时间成本高，找回效率低。</a:t>
            </a:r>
            <a:endParaRPr lang="zh-CN" alt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762000" y="482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762000" y="4826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6000" y="5016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1587500" y="497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缺乏自动匹配机制</a:t>
            </a:r>
            <a:endParaRPr lang="zh-CN" altLang="en-US" sz="1100"/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1016000" y="55245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现有方式完全依赖人工辨认和主观判断，失主与拾物者之间缺少智能化的自动关联手段，大量潜在匹配被淹没在信息洪流中。</a:t>
            </a:r>
            <a:endParaRPr lang="zh-CN" altLang="en-US" sz="1100"/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6286500" y="482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6286500" y="4826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40500" y="5016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7112000" y="497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信息过期与重复发布</a:t>
            </a:r>
            <a:endParaRPr lang="zh-CN" altLang="en-US" sz="1100"/>
          </a:p>
        </p:txBody>
      </p:sp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6540500" y="55245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/>
              <a:t>已找回的物品信息没有状态标记，导致同一物品被反复发布和查阅，不仅造成资源浪费，也干扰了有效信息的筛选。</a:t>
            </a:r>
            <a:endParaRPr lang="zh-CN" alt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系统需求边界：本次开发的核心功能 (我们做什么)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651000" y="2032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</a:pPr>
            <a:r>
              <a:rPr lang="zh-CN" altLang="en-US" sz="1100"/>
              <a:t>做信息统一发布：提供标准化的失物/拾物发布页面，支持文本描述和图片上传，将分散在各类群聊中的信息汇聚至同一平台，形成统一的数据来源。</a:t>
            </a:r>
            <a:endParaRPr lang="zh-CN" alt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762000" y="3429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762000" y="342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361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1651000" y="3556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做智能匹配与排序推荐：基于文本相似度、时间、地点等多维度特征，自动计算失物与拾物之间的匹配分数，并按匹配度从高到低排序展示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Top-N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结果，帮助用户优先查看最相关的信息。</a:t>
            </a:r>
            <a:endParaRPr lang="zh-CN" alt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762000" y="4953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762000" y="4953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1651000" y="5080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做匹配结果的可解释性展示：在返回匹配结果的同时，展示匹配得分及各维度贡献说明，让用户不仅知道“匹配上了”，还知道“为什么匹配”，增强信任感和实用价值。</a:t>
            </a:r>
            <a:endParaRPr lang="zh-CN" alt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9738">
            <a:off x="5111750" y="40259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493000" y="4572000"/>
            <a:ext cx="3937000" cy="15875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0" y="4699000"/>
            <a:ext cx="368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上述三大核心功能是解决当前业务痛点、支撑项目目标达成所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必须具备的关键要素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，构成了系统开发的核心需求边界，也是保障项目价值落地的基石。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系统需求边界：本次暂不开发的功能 (我们不做什么)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为了聚焦核心价值、控制项目复杂度并保障开发周期可控，我们明确划定了本次系统建设的边界，以下功能点将暂缓纳入开发计划，作为未来迭代的储备方向。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91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3429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683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397000" y="36576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>
                <a:sym typeface="+mn-ea"/>
              </a:rPr>
              <a:t>不做用户登录与权限管理：</a:t>
            </a:r>
            <a:endParaRPr lang="zh-CN" altLang="en-US" sz="1800">
              <a:sym typeface="+mn-ea"/>
            </a:endParaRPr>
          </a:p>
        </p:txBody>
      </p:sp>
      <p:cxnSp>
        <p:nvCxnSpPr>
          <p:cNvPr id="10" name="Connector 10"/>
          <p:cNvCxnSpPr/>
          <p:nvPr>
            <p:custDataLst>
              <p:tags r:id="rId8"/>
            </p:custDataLst>
          </p:nvPr>
        </p:nvCxnSpPr>
        <p:spPr>
          <a:xfrm rot="-14323">
            <a:off x="952513" y="431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952500" y="4572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为降低使用门槛、快速验证核心匹配功能，本次不实现注册登录、身份认证、权限分级等机制，系统对全校师生开放使用。</a:t>
            </a:r>
            <a:endParaRPr lang="zh-CN" alt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381500" y="3429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43815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0" y="3683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5016500" y="36576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不做即时通讯与消息推送：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6"/>
            </p:custDataLst>
          </p:nvPr>
        </p:nvCxnSpPr>
        <p:spPr>
          <a:xfrm rot="-14323">
            <a:off x="4572013" y="431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4572000" y="4572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系统仅提供匹配结果的展示，不包含站内聊天、私信沟通、短信/邮件通知或</a:t>
            </a:r>
            <a:r>
              <a:rPr lang="en-US" altLang="zh-CN" sz="1100"/>
              <a:t>App</a:t>
            </a:r>
            <a:r>
              <a:rPr lang="zh-CN" altLang="en-US" sz="1100"/>
              <a:t>推送等功能，用户需自行通过其他方式联系对接。</a:t>
            </a:r>
            <a:endParaRPr lang="zh-CN" altLang="en-US" sz="1100"/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8001000" y="3429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9"/>
            </p:custDataLst>
          </p:nvPr>
        </p:nvSpPr>
        <p:spPr>
          <a:xfrm>
            <a:off x="80010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191500" y="3683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8636000" y="36576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不做图片内容智能识别</a:t>
            </a:r>
            <a:endParaRPr lang="zh-CN" altLang="en-US" sz="1100"/>
          </a:p>
        </p:txBody>
      </p:sp>
      <p:cxnSp>
        <p:nvCxnSpPr>
          <p:cNvPr id="22" name="Connector 22"/>
          <p:cNvCxnSpPr/>
          <p:nvPr>
            <p:custDataLst>
              <p:tags r:id="rId24"/>
            </p:custDataLst>
          </p:nvPr>
        </p:nvCxnSpPr>
        <p:spPr>
          <a:xfrm rot="-14323">
            <a:off x="8191513" y="431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5"/>
            </p:custDataLst>
          </p:nvPr>
        </p:nvSpPr>
        <p:spPr>
          <a:xfrm>
            <a:off x="8191500" y="4572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/>
              <a:t>图片仅作为辅助信息展示，不支持</a:t>
            </a:r>
            <a:r>
              <a:rPr lang="en-US" altLang="zh-CN" sz="1100"/>
              <a:t>OCR</a:t>
            </a:r>
            <a:r>
              <a:rPr lang="zh-CN" altLang="en-US" sz="1100"/>
              <a:t>文字提取、图像分类或物品视觉识别等</a:t>
            </a:r>
            <a:r>
              <a:rPr lang="en-US" altLang="zh-CN" sz="1100"/>
              <a:t>AI</a:t>
            </a:r>
            <a:r>
              <a:rPr lang="zh-CN" altLang="en-US" sz="1100"/>
              <a:t>能力，相关功能预留为后续扩展方向。</a:t>
            </a:r>
            <a:endParaRPr lang="zh-CN" alt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项目分工说明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38100"/>
          </a:xfrm>
          <a:prstGeom prst="roundRect">
            <a:avLst>
              <a:gd name="adj" fmla="val 0"/>
            </a:avLst>
          </a:prstGeom>
          <a:solidFill>
            <a:srgbClr val="14B8A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10668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89000" y="2413000"/>
          <a:ext cx="10287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2794000"/>
                <a:gridCol w="4699000"/>
              </a:tblGrid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766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姓名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766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学号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766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主要负责模块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5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/>
                        <a:t>向帅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/>
                        <a:t>2500320328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zh-CN" altLang="en-US" sz="1100"/>
                        <a:t>主要负责前端页面与数据展示部分，使用</a:t>
                      </a:r>
                      <a:r>
                        <a:rPr lang="en-US" altLang="zh-CN" sz="1100"/>
                        <a:t>HTML</a:t>
                      </a:r>
                      <a:r>
                        <a:rPr lang="zh-CN" altLang="en-US" sz="1100"/>
                        <a:t>与</a:t>
                      </a:r>
                      <a:r>
                        <a:rPr lang="en-US" altLang="zh-CN" sz="1100"/>
                        <a:t>Bootstrap</a:t>
                      </a:r>
                      <a:r>
                        <a:rPr lang="zh-CN" altLang="en-US" sz="1100"/>
                        <a:t>实现系统界面，包括失物/拾物信息发布页面、信息列表展示页面以及匹配结果展示页面；同时负责图片上传与展示功能的交互实现，并构建测试数据用于系统演示与功能验证，最终完成整体系统的前后端联调与展示优化。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/>
                        <a:t>温贤海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/>
                        <a:t>2500320327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zh-CN" altLang="en-US" sz="1100"/>
                        <a:t>主要负责系统后端与核心逻辑实现，使用</a:t>
                      </a:r>
                      <a:r>
                        <a:rPr lang="en-US" altLang="zh-CN" sz="1100"/>
                        <a:t>Python</a:t>
                      </a:r>
                      <a:r>
                        <a:rPr lang="zh-CN" altLang="en-US" sz="1100"/>
                        <a:t>与</a:t>
                      </a:r>
                      <a:r>
                        <a:rPr lang="en-US" altLang="zh-CN" sz="1100"/>
                        <a:t>Flask</a:t>
                      </a:r>
                      <a:r>
                        <a:rPr lang="zh-CN" altLang="en-US" sz="1100"/>
                        <a:t>搭建基础后端服务，完成失物与拾物信息的存储设计（</a:t>
                      </a:r>
                      <a:r>
                        <a:rPr lang="en-US" altLang="zh-CN" sz="1100"/>
                        <a:t>JSON/SQLite）；</a:t>
                      </a:r>
                      <a:r>
                        <a:rPr lang="zh-CN" altLang="en-US" sz="1100"/>
                        <a:t>同时实现基于文本相似度的智能匹配算法，对用户发布的信息进行多维度特征计算与相似度排序，最终输出匹配结果及相关匹配分数。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56769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5524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客观限制：在约束中寻求最优解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在项目启动之初，我充分考虑了各项客观限制条件，并以此为基础选择了最合适的技术方案和实现路径。正视并合理利用这些约束，是确保项目可行性与落地性的关键前提。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316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3683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3683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73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651000" y="38100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设备与人群：主要面向普通学生，使用个人电脑或手机浏览器即可访问，无需高配置设备；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23000" y="3683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223000" y="3683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873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7112000" y="38100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成本：完全采用开源技术栈（</a:t>
            </a:r>
            <a:r>
              <a:rPr lang="en-US" altLang="zh-CN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Python、Flask、Bootstrap），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运行于本地或低成本服务器，无额外采购开销；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762000" y="514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762000" y="5143500"/>
            <a:ext cx="76200" cy="1206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533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1651000" y="52705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运行环境：初期部署在校园内网或云服务器（如阿里云轻量应用服务器），依赖稳定的网络连接；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6223000" y="514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6223000" y="5143500"/>
            <a:ext cx="76200" cy="1206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77000" y="5334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7112000" y="52705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数据规模：采用</a:t>
            </a:r>
            <a:r>
              <a:rPr lang="en-US" altLang="zh-CN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</a:t>
            </a:r>
            <a:r>
              <a:rPr lang="en-US" altLang="zh-CN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存储，适合中小规模数据（日均百条级别），在保证响应速度的同时，也便于后期迁移和扩展。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3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4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5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6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7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8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9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0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1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2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3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4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5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6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7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8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9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0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1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22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23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24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25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26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27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28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29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0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1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2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3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4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5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6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7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8.xml><?xml version="1.0" encoding="utf-8"?>
<p:tagLst xmlns:p="http://schemas.openxmlformats.org/presentationml/2006/main">
  <p:tag name="KSO_WM_DIAGRAM_VIRTUALLY_FRAME" val="{&quot;height&quot;:150,&quot;left&quot;:60,&quot;top&quot;:320,&quot;width&quot;:840}"/>
</p:tagLst>
</file>

<file path=ppt/tags/tag39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0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1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2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3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4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5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6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7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8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49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0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1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2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3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4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5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6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7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8.xml><?xml version="1.0" encoding="utf-8"?>
<p:tagLst xmlns:p="http://schemas.openxmlformats.org/presentationml/2006/main">
  <p:tag name="KSO_WM_DIAGRAM_VIRTUALLY_FRAME" val="{&quot;height&quot;:255,&quot;left&quot;:60,&quot;top&quot;:240,&quot;width&quot;:850}"/>
</p:tagLst>
</file>

<file path=ppt/tags/tag59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0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1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2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3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4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5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6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7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8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69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70.xml><?xml version="1.0" encoding="utf-8"?>
<p:tagLst xmlns:p="http://schemas.openxmlformats.org/presentationml/2006/main">
  <p:tag name="KSO_WM_DIAGRAM_VIRTUALLY_FRAME" val="{&quot;height&quot;:335,&quot;left&quot;:60,&quot;top&quot;:150,&quot;width&quot;:480}"/>
</p:tagLst>
</file>

<file path=ppt/tags/tag71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72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73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74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75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76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77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78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79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0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1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2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3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4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5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6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7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8.xml><?xml version="1.0" encoding="utf-8"?>
<p:tagLst xmlns:p="http://schemas.openxmlformats.org/presentationml/2006/main">
  <p:tag name="KSO_WM_DIAGRAM_VIRTUALLY_FRAME" val="{&quot;height&quot;:190,&quot;left&quot;:60,&quot;top&quot;:270,&quot;width&quot;:840}"/>
</p:tagLst>
</file>

<file path=ppt/tags/tag89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0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1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2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3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4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5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6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7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8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99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100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101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102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103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ags/tag104.xml><?xml version="1.0" encoding="utf-8"?>
<p:tagLst xmlns:p="http://schemas.openxmlformats.org/presentationml/2006/main">
  <p:tag name="KSO_WM_DIAGRAM_VIRTUALLY_FRAME" val="{&quot;height&quot;:210,&quot;left&quot;:60,&quot;top&quot;:29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2038</Words>
  <Application>WPS 演示</Application>
  <PresentationFormat/>
  <Paragraphs>122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WPS_1756815644</cp:lastModifiedBy>
  <cp:revision>8</cp:revision>
  <dcterms:created xsi:type="dcterms:W3CDTF">2026-06-24T14:18:00Z</dcterms:created>
  <dcterms:modified xsi:type="dcterms:W3CDTF">2026-06-25T00:42:59Z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{"Label":"1","ContentProducer":"001191110102MACQD9K64010000","ProduceID":"7654963496777485291","ReservedCode1":"","ContentPropagator":"","PropagateID":"","ReservedCode2":""}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8E5896E2803546D09669E9DF335FDBC4_12</vt:lpwstr>
  </property>
</Properties>
</file>